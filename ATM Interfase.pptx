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Gelasio Semi Bold"/>
      <p:regular r:id="rId17"/>
    </p:embeddedFont>
    <p:embeddedFont>
      <p:font typeface="Gelasio Semi Bold"/>
      <p:regular r:id="rId18"/>
    </p:embeddedFont>
    <p:embeddedFont>
      <p:font typeface="Gelasio Semi Bold"/>
      <p:regular r:id="rId19"/>
    </p:embeddedFont>
    <p:embeddedFont>
      <p:font typeface="Gelasio Semi Bold"/>
      <p:regular r:id="rId20"/>
    </p:embeddedFont>
    <p:embeddedFont>
      <p:font typeface="Gelasio"/>
      <p:regular r:id="rId21"/>
    </p:embeddedFont>
    <p:embeddedFont>
      <p:font typeface="Gelasio"/>
      <p:regular r:id="rId22"/>
    </p:embeddedFont>
    <p:embeddedFont>
      <p:font typeface="Gelasio"/>
      <p:regular r:id="rId23"/>
    </p:embeddedFont>
    <p:embeddedFont>
      <p:font typeface="Gelasio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slideLayout" Target="../slideLayouts/slideLayout8.xml"/><Relationship Id="rId1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3.png"/><Relationship Id="rId14" Type="http://schemas.openxmlformats.org/officeDocument/2006/relationships/image" Target="../media/image-9-14.svg"/><Relationship Id="rId15" Type="http://schemas.openxmlformats.org/officeDocument/2006/relationships/image" Target="../media/image-9-15.png"/><Relationship Id="rId16" Type="http://schemas.openxmlformats.org/officeDocument/2006/relationships/image" Target="../media/image-9-16.svg"/><Relationship Id="rId17" Type="http://schemas.openxmlformats.org/officeDocument/2006/relationships/slideLayout" Target="../slideLayouts/slideLayout10.xml"/><Relationship Id="rId1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52888"/>
            <a:ext cx="730984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ATM Management System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952393"/>
            <a:ext cx="7155180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Java Swing Desktop Application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793790" y="385953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Student Name: [Your Name]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47758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Course: [Your Course]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5095637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Instructor: [Instructor's Name]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71369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Date: [Date]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3039785"/>
            <a:ext cx="2118003" cy="426244"/>
          </a:xfrm>
          <a:prstGeom prst="roundRect">
            <a:avLst>
              <a:gd name="adj" fmla="val 6386"/>
            </a:avLst>
          </a:prstGeom>
          <a:solidFill>
            <a:srgbClr val="ECE6DF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3107769"/>
            <a:ext cx="1845826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PROJECT OVERVIEW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3556754"/>
            <a:ext cx="714172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Desktop-Based ATM Simulation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93790" y="446389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This project is a desktop-based ATM simulation system developed using Java Swing. It allows users to securely log in and perform banking operations such as withdraw, deposit, transfer, and check balance.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964769"/>
            <a:ext cx="1378387" cy="426244"/>
          </a:xfrm>
          <a:prstGeom prst="roundRect">
            <a:avLst>
              <a:gd name="adj" fmla="val 6386"/>
            </a:avLst>
          </a:prstGeom>
          <a:solidFill>
            <a:srgbClr val="ECE6DF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2032754"/>
            <a:ext cx="110621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OBJECTIVES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93790" y="2986326"/>
            <a:ext cx="4196358" cy="1532930"/>
          </a:xfrm>
          <a:prstGeom prst="roundRect">
            <a:avLst>
              <a:gd name="adj" fmla="val 9544"/>
            </a:avLst>
          </a:prstGeom>
          <a:solidFill>
            <a:srgbClr val="F9F6F0"/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2955846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</p:sp>
      <p:sp>
        <p:nvSpPr>
          <p:cNvPr id="6" name="Shape 4"/>
          <p:cNvSpPr/>
          <p:nvPr/>
        </p:nvSpPr>
        <p:spPr>
          <a:xfrm>
            <a:off x="2551688" y="2646164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D3C5B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55761" y="2850237"/>
            <a:ext cx="272177" cy="27217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084" y="3553301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Simulate real ATM functionality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216962" y="2986326"/>
            <a:ext cx="4196358" cy="1532930"/>
          </a:xfrm>
          <a:prstGeom prst="roundRect">
            <a:avLst>
              <a:gd name="adj" fmla="val 9544"/>
            </a:avLst>
          </a:prstGeom>
          <a:solidFill>
            <a:srgbClr val="F9F6F0"/>
          </a:solidFill>
          <a:ln/>
        </p:spPr>
      </p:sp>
      <p:sp>
        <p:nvSpPr>
          <p:cNvPr id="10" name="Shape 7"/>
          <p:cNvSpPr/>
          <p:nvPr/>
        </p:nvSpPr>
        <p:spPr>
          <a:xfrm>
            <a:off x="5216962" y="2955846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</p:sp>
      <p:sp>
        <p:nvSpPr>
          <p:cNvPr id="11" name="Shape 8"/>
          <p:cNvSpPr/>
          <p:nvPr/>
        </p:nvSpPr>
        <p:spPr>
          <a:xfrm>
            <a:off x="6974860" y="2646164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D3C5B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78933" y="2850237"/>
            <a:ext cx="272177" cy="27217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74256" y="3553301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Implement Object-Oriented Programming</a:t>
            </a:r>
            <a:endParaRPr lang="en-US" sz="2200" dirty="0"/>
          </a:p>
        </p:txBody>
      </p:sp>
      <p:sp>
        <p:nvSpPr>
          <p:cNvPr id="14" name="Shape 10"/>
          <p:cNvSpPr/>
          <p:nvPr/>
        </p:nvSpPr>
        <p:spPr>
          <a:xfrm>
            <a:off x="9640133" y="2986326"/>
            <a:ext cx="4196358" cy="1532930"/>
          </a:xfrm>
          <a:prstGeom prst="roundRect">
            <a:avLst>
              <a:gd name="adj" fmla="val 9544"/>
            </a:avLst>
          </a:prstGeom>
          <a:solidFill>
            <a:srgbClr val="F9F6F0"/>
          </a:solidFill>
          <a:ln/>
        </p:spPr>
      </p:sp>
      <p:sp>
        <p:nvSpPr>
          <p:cNvPr id="15" name="Shape 11"/>
          <p:cNvSpPr/>
          <p:nvPr/>
        </p:nvSpPr>
        <p:spPr>
          <a:xfrm>
            <a:off x="9640133" y="2955846"/>
            <a:ext cx="4196358" cy="121920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</p:sp>
      <p:sp>
        <p:nvSpPr>
          <p:cNvPr id="16" name="Shape 12"/>
          <p:cNvSpPr/>
          <p:nvPr/>
        </p:nvSpPr>
        <p:spPr>
          <a:xfrm>
            <a:off x="11398032" y="2646164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D3C5B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02105" y="2850237"/>
            <a:ext cx="272177" cy="27217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897427" y="3553301"/>
            <a:ext cx="3681770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Design GUI using Java Swing</a:t>
            </a:r>
            <a:endParaRPr lang="en-US" sz="2200" dirty="0"/>
          </a:p>
        </p:txBody>
      </p:sp>
      <p:sp>
        <p:nvSpPr>
          <p:cNvPr id="19" name="Shape 14"/>
          <p:cNvSpPr/>
          <p:nvPr/>
        </p:nvSpPr>
        <p:spPr>
          <a:xfrm>
            <a:off x="793790" y="5086231"/>
            <a:ext cx="6407944" cy="1178600"/>
          </a:xfrm>
          <a:prstGeom prst="roundRect">
            <a:avLst>
              <a:gd name="adj" fmla="val 12413"/>
            </a:avLst>
          </a:prstGeom>
          <a:solidFill>
            <a:srgbClr val="F9F6F0"/>
          </a:solidFill>
          <a:ln/>
        </p:spPr>
      </p:sp>
      <p:sp>
        <p:nvSpPr>
          <p:cNvPr id="20" name="Shape 15"/>
          <p:cNvSpPr/>
          <p:nvPr/>
        </p:nvSpPr>
        <p:spPr>
          <a:xfrm>
            <a:off x="793790" y="5055751"/>
            <a:ext cx="6407944" cy="121920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</p:sp>
      <p:sp>
        <p:nvSpPr>
          <p:cNvPr id="21" name="Shape 16"/>
          <p:cNvSpPr/>
          <p:nvPr/>
        </p:nvSpPr>
        <p:spPr>
          <a:xfrm>
            <a:off x="3657540" y="474606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D3C5B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61614" y="4950143"/>
            <a:ext cx="272177" cy="27217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51084" y="5653207"/>
            <a:ext cx="465546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Manage transactions and balance</a:t>
            </a:r>
            <a:endParaRPr lang="en-US" sz="2200" dirty="0"/>
          </a:p>
        </p:txBody>
      </p:sp>
      <p:sp>
        <p:nvSpPr>
          <p:cNvPr id="24" name="Shape 18"/>
          <p:cNvSpPr/>
          <p:nvPr/>
        </p:nvSpPr>
        <p:spPr>
          <a:xfrm>
            <a:off x="7428548" y="5086231"/>
            <a:ext cx="6407944" cy="1178600"/>
          </a:xfrm>
          <a:prstGeom prst="roundRect">
            <a:avLst>
              <a:gd name="adj" fmla="val 12413"/>
            </a:avLst>
          </a:prstGeom>
          <a:solidFill>
            <a:srgbClr val="F9F6F0"/>
          </a:solidFill>
          <a:ln/>
        </p:spPr>
      </p:sp>
      <p:sp>
        <p:nvSpPr>
          <p:cNvPr id="25" name="Shape 19"/>
          <p:cNvSpPr/>
          <p:nvPr/>
        </p:nvSpPr>
        <p:spPr>
          <a:xfrm>
            <a:off x="7428548" y="5055751"/>
            <a:ext cx="6407944" cy="121920"/>
          </a:xfrm>
          <a:prstGeom prst="roundRect">
            <a:avLst>
              <a:gd name="adj" fmla="val 27907"/>
            </a:avLst>
          </a:prstGeom>
          <a:solidFill>
            <a:srgbClr val="D3C5B6"/>
          </a:solidFill>
          <a:ln/>
        </p:spPr>
      </p:sp>
      <p:sp>
        <p:nvSpPr>
          <p:cNvPr id="26" name="Shape 20"/>
          <p:cNvSpPr/>
          <p:nvPr/>
        </p:nvSpPr>
        <p:spPr>
          <a:xfrm>
            <a:off x="10292298" y="4746069"/>
            <a:ext cx="680442" cy="680442"/>
          </a:xfrm>
          <a:prstGeom prst="roundRect">
            <a:avLst>
              <a:gd name="adj" fmla="val 134383"/>
            </a:avLst>
          </a:prstGeom>
          <a:solidFill>
            <a:srgbClr val="D3C5B6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6371" y="4950143"/>
            <a:ext cx="272177" cy="27217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685842" y="5653207"/>
            <a:ext cx="347710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Store transaction history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843445"/>
            <a:ext cx="2244804" cy="426244"/>
          </a:xfrm>
          <a:prstGeom prst="roundRect">
            <a:avLst>
              <a:gd name="adj" fmla="val 6386"/>
            </a:avLst>
          </a:prstGeom>
          <a:solidFill>
            <a:srgbClr val="ECE6DF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911429"/>
            <a:ext cx="197262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TECHNOLOGIES USED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524839"/>
            <a:ext cx="566976" cy="56697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3753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Java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3865721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Core programming language</a:t>
            </a:r>
            <a:endParaRPr lang="en-US" sz="17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56884" y="2524839"/>
            <a:ext cx="566976" cy="56697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6884" y="33753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Java Swing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7456884" y="3865721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GUI development toolkit</a:t>
            </a:r>
            <a:endParaRPr lang="en-US" sz="17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4682252"/>
            <a:ext cx="566976" cy="56697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3790" y="5532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OOP Concepts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793790" y="6023134"/>
            <a:ext cx="63796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Structured code design</a:t>
            </a:r>
            <a:endParaRPr lang="en-US" sz="17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6884" y="4682252"/>
            <a:ext cx="566976" cy="56697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56884" y="55327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ArrayList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456884" y="6023134"/>
            <a:ext cx="637972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Transaction History Management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61793" y="455057"/>
            <a:ext cx="1679853" cy="260152"/>
          </a:xfrm>
          <a:prstGeom prst="roundRect">
            <a:avLst>
              <a:gd name="adj" fmla="val 7158"/>
            </a:avLst>
          </a:prstGeom>
          <a:solidFill>
            <a:srgbClr val="ECE6DF"/>
          </a:solidFill>
          <a:ln/>
        </p:spPr>
      </p:sp>
      <p:sp>
        <p:nvSpPr>
          <p:cNvPr id="3" name="Text 1"/>
          <p:cNvSpPr/>
          <p:nvPr/>
        </p:nvSpPr>
        <p:spPr>
          <a:xfrm>
            <a:off x="2054781" y="501491"/>
            <a:ext cx="1493877" cy="167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SYSTEM ARCHITECTURE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961793" y="757595"/>
            <a:ext cx="3588901" cy="387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Component Interaction</a:t>
            </a:r>
            <a:endParaRPr lang="en-US" sz="2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1793" y="1304687"/>
            <a:ext cx="10706814" cy="59325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86307" y="3877270"/>
            <a:ext cx="2260872" cy="29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ATMSystem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286307" y="4257149"/>
            <a:ext cx="2260872" cy="398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Main class initializing the app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688130" y="4071481"/>
            <a:ext cx="2366029" cy="29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LoginPanel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9567199" y="4451360"/>
            <a:ext cx="2607889" cy="199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User authentication interface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2558497" y="5585740"/>
            <a:ext cx="2366029" cy="29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DashboardPanel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2437567" y="5965619"/>
            <a:ext cx="2607889" cy="1991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Main user operations view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2852936" y="1963416"/>
            <a:ext cx="2366028" cy="295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ATMFrame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2732006" y="2343295"/>
            <a:ext cx="2607889" cy="3982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4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JFrame controller managing views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1961793" y="7356634"/>
            <a:ext cx="10706814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This diagram illustrates the hierarchical flow and interaction between the main components of the ATM system, from the entry point to the core business logic.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6162" y="570548"/>
            <a:ext cx="1477447" cy="378500"/>
          </a:xfrm>
          <a:prstGeom prst="roundRect">
            <a:avLst>
              <a:gd name="adj" fmla="val 6579"/>
            </a:avLst>
          </a:prstGeom>
          <a:solidFill>
            <a:srgbClr val="ECE6DF"/>
          </a:solidFill>
          <a:ln/>
        </p:spPr>
      </p:sp>
      <p:sp>
        <p:nvSpPr>
          <p:cNvPr id="3" name="Text 1"/>
          <p:cNvSpPr/>
          <p:nvPr/>
        </p:nvSpPr>
        <p:spPr>
          <a:xfrm>
            <a:off x="850583" y="632698"/>
            <a:ext cx="1228606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LOGIN SYSTEM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26162" y="1024890"/>
            <a:ext cx="5626775" cy="518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2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Secure Access (LoginPanel)</a:t>
            </a:r>
            <a:endParaRPr lang="en-US" sz="3250" dirty="0"/>
          </a:p>
        </p:txBody>
      </p:sp>
      <p:sp>
        <p:nvSpPr>
          <p:cNvPr id="5" name="Shape 3"/>
          <p:cNvSpPr/>
          <p:nvPr/>
        </p:nvSpPr>
        <p:spPr>
          <a:xfrm>
            <a:off x="726162" y="3294400"/>
            <a:ext cx="103703" cy="103703"/>
          </a:xfrm>
          <a:prstGeom prst="roundRect">
            <a:avLst>
              <a:gd name="adj" fmla="val 440874"/>
            </a:avLst>
          </a:prstGeom>
          <a:solidFill>
            <a:srgbClr val="D3C5B6"/>
          </a:solidFill>
          <a:ln/>
        </p:spPr>
      </p:sp>
      <p:sp>
        <p:nvSpPr>
          <p:cNvPr id="6" name="Text 4"/>
          <p:cNvSpPr/>
          <p:nvPr/>
        </p:nvSpPr>
        <p:spPr>
          <a:xfrm>
            <a:off x="1019651" y="3184207"/>
            <a:ext cx="2593658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User ID field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26162" y="3998059"/>
            <a:ext cx="103703" cy="103703"/>
          </a:xfrm>
          <a:prstGeom prst="roundRect">
            <a:avLst>
              <a:gd name="adj" fmla="val 440874"/>
            </a:avLst>
          </a:prstGeom>
          <a:solidFill>
            <a:srgbClr val="D3C5B6"/>
          </a:solidFill>
          <a:ln/>
        </p:spPr>
      </p:sp>
      <p:sp>
        <p:nvSpPr>
          <p:cNvPr id="8" name="Text 6"/>
          <p:cNvSpPr/>
          <p:nvPr/>
        </p:nvSpPr>
        <p:spPr>
          <a:xfrm>
            <a:off x="1019651" y="3887867"/>
            <a:ext cx="2593658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PIN field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26162" y="4701719"/>
            <a:ext cx="103703" cy="103703"/>
          </a:xfrm>
          <a:prstGeom prst="roundRect">
            <a:avLst>
              <a:gd name="adj" fmla="val 440874"/>
            </a:avLst>
          </a:prstGeom>
          <a:solidFill>
            <a:srgbClr val="D3C5B6"/>
          </a:solidFill>
          <a:ln/>
        </p:spPr>
      </p:sp>
      <p:sp>
        <p:nvSpPr>
          <p:cNvPr id="10" name="Text 8"/>
          <p:cNvSpPr/>
          <p:nvPr/>
        </p:nvSpPr>
        <p:spPr>
          <a:xfrm>
            <a:off x="1019651" y="4591526"/>
            <a:ext cx="3092887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City selection dropdown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26162" y="5405378"/>
            <a:ext cx="103703" cy="103703"/>
          </a:xfrm>
          <a:prstGeom prst="roundRect">
            <a:avLst>
              <a:gd name="adj" fmla="val 440874"/>
            </a:avLst>
          </a:prstGeom>
          <a:solidFill>
            <a:srgbClr val="D3C5B6"/>
          </a:solidFill>
          <a:ln/>
        </p:spPr>
      </p:sp>
      <p:sp>
        <p:nvSpPr>
          <p:cNvPr id="12" name="Text 10"/>
          <p:cNvSpPr/>
          <p:nvPr/>
        </p:nvSpPr>
        <p:spPr>
          <a:xfrm>
            <a:off x="1019651" y="5295186"/>
            <a:ext cx="2593658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Login validation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26162" y="6109037"/>
            <a:ext cx="103703" cy="103703"/>
          </a:xfrm>
          <a:prstGeom prst="roundRect">
            <a:avLst>
              <a:gd name="adj" fmla="val 440874"/>
            </a:avLst>
          </a:prstGeom>
          <a:solidFill>
            <a:srgbClr val="D3C5B6"/>
          </a:solidFill>
          <a:ln/>
        </p:spPr>
      </p:sp>
      <p:sp>
        <p:nvSpPr>
          <p:cNvPr id="14" name="Text 12"/>
          <p:cNvSpPr/>
          <p:nvPr/>
        </p:nvSpPr>
        <p:spPr>
          <a:xfrm>
            <a:off x="1019651" y="5998845"/>
            <a:ext cx="2593658" cy="324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Error handling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373767" y="1828324"/>
            <a:ext cx="8687395" cy="5850493"/>
          </a:xfrm>
          <a:prstGeom prst="roundRect">
            <a:avLst>
              <a:gd name="adj" fmla="val 532"/>
            </a:avLst>
          </a:prstGeom>
          <a:solidFill>
            <a:srgbClr val="D3C5B6"/>
          </a:solidFill>
          <a:ln/>
        </p:spPr>
      </p:sp>
      <p:sp>
        <p:nvSpPr>
          <p:cNvPr id="16" name="Text 14"/>
          <p:cNvSpPr/>
          <p:nvPr/>
        </p:nvSpPr>
        <p:spPr>
          <a:xfrm>
            <a:off x="5581174" y="1999059"/>
            <a:ext cx="8272582" cy="6355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Credentials are validated against stored user data to ensure secure access. Incorrect entries trigger appropriate error messages.</a:t>
            </a:r>
            <a:endParaRPr lang="en-US" sz="16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81174" y="2848094"/>
            <a:ext cx="8272582" cy="46172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06435" y="792718"/>
            <a:ext cx="1355646" cy="204311"/>
          </a:xfrm>
          <a:prstGeom prst="roundRect">
            <a:avLst>
              <a:gd name="adj" fmla="val 7506"/>
            </a:avLst>
          </a:prstGeom>
          <a:solidFill>
            <a:srgbClr val="ECE6DF"/>
          </a:solidFill>
          <a:ln/>
        </p:spPr>
      </p:sp>
      <p:sp>
        <p:nvSpPr>
          <p:cNvPr id="3" name="Text 1"/>
          <p:cNvSpPr/>
          <p:nvPr/>
        </p:nvSpPr>
        <p:spPr>
          <a:xfrm>
            <a:off x="2982992" y="830937"/>
            <a:ext cx="1202531" cy="1278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DASHBOARD FEATURES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906435" y="1025723"/>
            <a:ext cx="4894898" cy="319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Banking Operations (DashboardPanel)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906435" y="1534120"/>
            <a:ext cx="2883456" cy="910352"/>
          </a:xfrm>
          <a:prstGeom prst="roundRect">
            <a:avLst>
              <a:gd name="adj" fmla="val 2106"/>
            </a:avLst>
          </a:prstGeom>
          <a:solidFill>
            <a:srgbClr val="EEE8DD"/>
          </a:solidFill>
          <a:ln/>
        </p:spPr>
      </p:sp>
      <p:sp>
        <p:nvSpPr>
          <p:cNvPr id="6" name="Shape 4"/>
          <p:cNvSpPr/>
          <p:nvPr/>
        </p:nvSpPr>
        <p:spPr>
          <a:xfrm>
            <a:off x="3034189" y="1661874"/>
            <a:ext cx="383262" cy="383262"/>
          </a:xfrm>
          <a:prstGeom prst="roundRect">
            <a:avLst>
              <a:gd name="adj" fmla="val 23855967"/>
            </a:avLst>
          </a:prstGeom>
          <a:solidFill>
            <a:srgbClr val="D3C5B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39559" y="1767245"/>
            <a:ext cx="172403" cy="1724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034189" y="2117050"/>
            <a:ext cx="1597343" cy="199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Check Balance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906435" y="2516386"/>
            <a:ext cx="2883456" cy="910352"/>
          </a:xfrm>
          <a:prstGeom prst="roundRect">
            <a:avLst>
              <a:gd name="adj" fmla="val 2106"/>
            </a:avLst>
          </a:prstGeom>
          <a:solidFill>
            <a:srgbClr val="EEE8DD"/>
          </a:solidFill>
          <a:ln/>
        </p:spPr>
      </p:sp>
      <p:sp>
        <p:nvSpPr>
          <p:cNvPr id="10" name="Shape 7"/>
          <p:cNvSpPr/>
          <p:nvPr/>
        </p:nvSpPr>
        <p:spPr>
          <a:xfrm>
            <a:off x="3034189" y="2644140"/>
            <a:ext cx="383262" cy="383262"/>
          </a:xfrm>
          <a:prstGeom prst="roundRect">
            <a:avLst>
              <a:gd name="adj" fmla="val 23855967"/>
            </a:avLst>
          </a:prstGeom>
          <a:solidFill>
            <a:srgbClr val="D3C5B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39559" y="2749510"/>
            <a:ext cx="172403" cy="1724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034189" y="3099316"/>
            <a:ext cx="1597343" cy="199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Deposit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2906435" y="3498652"/>
            <a:ext cx="2883456" cy="910352"/>
          </a:xfrm>
          <a:prstGeom prst="roundRect">
            <a:avLst>
              <a:gd name="adj" fmla="val 2106"/>
            </a:avLst>
          </a:prstGeom>
          <a:solidFill>
            <a:srgbClr val="EEE8DD"/>
          </a:solidFill>
          <a:ln/>
        </p:spPr>
      </p:sp>
      <p:sp>
        <p:nvSpPr>
          <p:cNvPr id="14" name="Shape 10"/>
          <p:cNvSpPr/>
          <p:nvPr/>
        </p:nvSpPr>
        <p:spPr>
          <a:xfrm>
            <a:off x="3034189" y="3626406"/>
            <a:ext cx="383262" cy="383262"/>
          </a:xfrm>
          <a:prstGeom prst="roundRect">
            <a:avLst>
              <a:gd name="adj" fmla="val 23855967"/>
            </a:avLst>
          </a:prstGeom>
          <a:solidFill>
            <a:srgbClr val="D3C5B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39559" y="3731776"/>
            <a:ext cx="172403" cy="17240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034189" y="4081582"/>
            <a:ext cx="1597343" cy="199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Withdraw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2906435" y="4480917"/>
            <a:ext cx="2883456" cy="910352"/>
          </a:xfrm>
          <a:prstGeom prst="roundRect">
            <a:avLst>
              <a:gd name="adj" fmla="val 2106"/>
            </a:avLst>
          </a:prstGeom>
          <a:solidFill>
            <a:srgbClr val="EEE8DD"/>
          </a:solidFill>
          <a:ln/>
        </p:spPr>
      </p:sp>
      <p:sp>
        <p:nvSpPr>
          <p:cNvPr id="18" name="Shape 13"/>
          <p:cNvSpPr/>
          <p:nvPr/>
        </p:nvSpPr>
        <p:spPr>
          <a:xfrm>
            <a:off x="3034189" y="4608671"/>
            <a:ext cx="383262" cy="383262"/>
          </a:xfrm>
          <a:prstGeom prst="roundRect">
            <a:avLst>
              <a:gd name="adj" fmla="val 23855967"/>
            </a:avLst>
          </a:prstGeom>
          <a:solidFill>
            <a:srgbClr val="D3C5B6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39559" y="4714042"/>
            <a:ext cx="172403" cy="172403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034189" y="5063847"/>
            <a:ext cx="1597343" cy="199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Transfer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2906435" y="5463183"/>
            <a:ext cx="2883456" cy="910352"/>
          </a:xfrm>
          <a:prstGeom prst="roundRect">
            <a:avLst>
              <a:gd name="adj" fmla="val 2106"/>
            </a:avLst>
          </a:prstGeom>
          <a:solidFill>
            <a:srgbClr val="EEE8DD"/>
          </a:solidFill>
          <a:ln/>
        </p:spPr>
      </p:sp>
      <p:sp>
        <p:nvSpPr>
          <p:cNvPr id="22" name="Shape 16"/>
          <p:cNvSpPr/>
          <p:nvPr/>
        </p:nvSpPr>
        <p:spPr>
          <a:xfrm>
            <a:off x="3034189" y="5590937"/>
            <a:ext cx="383262" cy="383262"/>
          </a:xfrm>
          <a:prstGeom prst="roundRect">
            <a:avLst>
              <a:gd name="adj" fmla="val 23855967"/>
            </a:avLst>
          </a:prstGeom>
          <a:solidFill>
            <a:srgbClr val="D3C5B6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39559" y="5696307"/>
            <a:ext cx="172403" cy="172403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034189" y="6046113"/>
            <a:ext cx="1597343" cy="199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Transaction History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2906435" y="6445448"/>
            <a:ext cx="2883456" cy="910352"/>
          </a:xfrm>
          <a:prstGeom prst="roundRect">
            <a:avLst>
              <a:gd name="adj" fmla="val 2106"/>
            </a:avLst>
          </a:prstGeom>
          <a:solidFill>
            <a:srgbClr val="EEE8DD"/>
          </a:solidFill>
          <a:ln/>
        </p:spPr>
      </p:sp>
      <p:sp>
        <p:nvSpPr>
          <p:cNvPr id="26" name="Shape 19"/>
          <p:cNvSpPr/>
          <p:nvPr/>
        </p:nvSpPr>
        <p:spPr>
          <a:xfrm>
            <a:off x="3034189" y="6573203"/>
            <a:ext cx="383262" cy="383262"/>
          </a:xfrm>
          <a:prstGeom prst="roundRect">
            <a:avLst>
              <a:gd name="adj" fmla="val 23855967"/>
            </a:avLst>
          </a:prstGeom>
          <a:solidFill>
            <a:srgbClr val="D3C5B6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39559" y="6678573"/>
            <a:ext cx="172403" cy="172403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034189" y="7028378"/>
            <a:ext cx="1597343" cy="199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5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Quit</a:t>
            </a:r>
            <a:endParaRPr lang="en-US" sz="1250" dirty="0"/>
          </a:p>
        </p:txBody>
      </p:sp>
      <p:sp>
        <p:nvSpPr>
          <p:cNvPr id="29" name="Shape 21"/>
          <p:cNvSpPr/>
          <p:nvPr/>
        </p:nvSpPr>
        <p:spPr>
          <a:xfrm>
            <a:off x="6017181" y="1453158"/>
            <a:ext cx="5806321" cy="5983605"/>
          </a:xfrm>
          <a:prstGeom prst="roundRect">
            <a:avLst>
              <a:gd name="adj" fmla="val 330"/>
            </a:avLst>
          </a:prstGeom>
          <a:solidFill>
            <a:srgbClr val="D3C5B6"/>
          </a:solidFill>
          <a:ln/>
        </p:spPr>
      </p:sp>
      <p:sp>
        <p:nvSpPr>
          <p:cNvPr id="30" name="Text 22"/>
          <p:cNvSpPr/>
          <p:nvPr/>
        </p:nvSpPr>
        <p:spPr>
          <a:xfrm>
            <a:off x="6144935" y="2687479"/>
            <a:ext cx="5550813" cy="3195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Each action on the dashboard directly interacts with the </a:t>
            </a:r>
            <a:pPr algn="l" indent="0" marL="0">
              <a:lnSpc>
                <a:spcPts val="125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UserAccount</a:t>
            </a:r>
            <a:pPr algn="l"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class to update balances and record transactions, ensuring real-time data consistency.</a:t>
            </a:r>
            <a:endParaRPr lang="en-US" sz="10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44935" y="3088005"/>
            <a:ext cx="5550813" cy="30981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146215"/>
            <a:ext cx="2229445" cy="426244"/>
          </a:xfrm>
          <a:prstGeom prst="roundRect">
            <a:avLst>
              <a:gd name="adj" fmla="val 6386"/>
            </a:avLst>
          </a:prstGeom>
          <a:solidFill>
            <a:srgbClr val="ECE6DF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214199"/>
            <a:ext cx="1957268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USERACCOUNT CLASS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663184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Core Business Logic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93790" y="279713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Attributes: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793790" y="3449241"/>
            <a:ext cx="6244709" cy="213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User ID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PIN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Balance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City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Transaction History (ArrayList)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599521" y="2797135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Methods:</a:t>
            </a:r>
            <a:endParaRPr lang="en-US" sz="2650" dirty="0"/>
          </a:p>
        </p:txBody>
      </p:sp>
      <p:sp>
        <p:nvSpPr>
          <p:cNvPr id="8" name="Text 6"/>
          <p:cNvSpPr/>
          <p:nvPr/>
        </p:nvSpPr>
        <p:spPr>
          <a:xfrm>
            <a:off x="7599521" y="3449241"/>
            <a:ext cx="6244709" cy="2573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validate()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deposit()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withdraw()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transfer()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getBalance()</a:t>
            </a:r>
            <a:endParaRPr lang="en-US" sz="1750" dirty="0"/>
          </a:p>
          <a:p>
            <a:pPr algn="l" marL="342900" indent="-342900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getTransactionHistory()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6357580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UserAccount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class is central to managing all user-specific data and operations. Every transaction is meticulously recorded in the </a:t>
            </a:r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Transaction History ArrayList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 for auditing and user review.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137523"/>
            <a:ext cx="3207782" cy="426244"/>
          </a:xfrm>
          <a:prstGeom prst="roundRect">
            <a:avLst>
              <a:gd name="adj" fmla="val 6386"/>
            </a:avLst>
          </a:prstGeom>
          <a:solidFill>
            <a:srgbClr val="ECE6DF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205508"/>
            <a:ext cx="293560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KEY FEATURES &amp; OOP CONCEPTS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04573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Key Features:</a:t>
            </a:r>
            <a:endParaRPr lang="en-US" sz="26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78800" y="2733199"/>
            <a:ext cx="340162" cy="3401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30906" y="27261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Secure Login</a:t>
            </a:r>
            <a:endParaRPr lang="en-US" sz="2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800" y="3874294"/>
            <a:ext cx="340162" cy="34016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530906" y="3867269"/>
            <a:ext cx="36252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Real-time Balance Update</a:t>
            </a:r>
            <a:endParaRPr lang="en-US" sz="2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8800" y="5015389"/>
            <a:ext cx="340162" cy="34016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30906" y="5008364"/>
            <a:ext cx="41159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Transaction History Tracking</a:t>
            </a:r>
            <a:endParaRPr lang="en-US" sz="22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8800" y="6156484"/>
            <a:ext cx="340162" cy="34016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530906" y="6149459"/>
            <a:ext cx="321314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Simple Interactive GUI</a:t>
            </a:r>
            <a:endParaRPr lang="en-US" sz="2200" dirty="0"/>
          </a:p>
        </p:txBody>
      </p:sp>
      <p:sp>
        <p:nvSpPr>
          <p:cNvPr id="13" name="Shape 7"/>
          <p:cNvSpPr/>
          <p:nvPr/>
        </p:nvSpPr>
        <p:spPr>
          <a:xfrm>
            <a:off x="7436168" y="1818918"/>
            <a:ext cx="6571417" cy="5273159"/>
          </a:xfrm>
          <a:prstGeom prst="roundRect">
            <a:avLst>
              <a:gd name="adj" fmla="val 645"/>
            </a:avLst>
          </a:prstGeom>
          <a:solidFill>
            <a:srgbClr val="D3C5B6"/>
          </a:solidFill>
          <a:ln/>
        </p:spPr>
      </p:sp>
      <p:sp>
        <p:nvSpPr>
          <p:cNvPr id="14" name="Text 8"/>
          <p:cNvSpPr/>
          <p:nvPr/>
        </p:nvSpPr>
        <p:spPr>
          <a:xfrm>
            <a:off x="7662982" y="2045732"/>
            <a:ext cx="340233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OOP Concepts:</a:t>
            </a:r>
            <a:endParaRPr lang="en-US" sz="26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47992" y="2733199"/>
            <a:ext cx="340162" cy="34016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400098" y="272617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Encapsulation</a:t>
            </a:r>
            <a:endParaRPr lang="en-US" sz="22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747992" y="3874294"/>
            <a:ext cx="340162" cy="34016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8400098" y="38672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Object Composition</a:t>
            </a:r>
            <a:endParaRPr lang="en-US" sz="22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747992" y="5015389"/>
            <a:ext cx="340162" cy="340162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8400098" y="5008364"/>
            <a:ext cx="388655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Event-Driven Programming</a:t>
            </a:r>
            <a:endParaRPr lang="en-US" sz="22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747992" y="6156484"/>
            <a:ext cx="340162" cy="340162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8400098" y="6149459"/>
            <a:ext cx="34172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Separation of UI &amp; Logic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091327"/>
            <a:ext cx="4013597" cy="426244"/>
          </a:xfrm>
          <a:prstGeom prst="roundRect">
            <a:avLst>
              <a:gd name="adj" fmla="val 6386"/>
            </a:avLst>
          </a:prstGeom>
          <a:solidFill>
            <a:srgbClr val="ECE6DF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1159312"/>
            <a:ext cx="3741420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CONCLUSION &amp; FUTURE ENHANCEMENTS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608296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Project Summary</a:t>
            </a:r>
            <a:endParaRPr lang="en-US" sz="3550" dirty="0"/>
          </a:p>
        </p:txBody>
      </p:sp>
      <p:sp>
        <p:nvSpPr>
          <p:cNvPr id="5" name="Text 3"/>
          <p:cNvSpPr/>
          <p:nvPr/>
        </p:nvSpPr>
        <p:spPr>
          <a:xfrm>
            <a:off x="793790" y="2515433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The ATM System demonstrates GUI development, OOP principles, and transaction management using Java Swing.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3246868"/>
            <a:ext cx="13042821" cy="35957"/>
          </a:xfrm>
          <a:prstGeom prst="rect">
            <a:avLst/>
          </a:prstGeom>
          <a:solidFill>
            <a:srgbClr val="746558">
              <a:alpha val="5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93790" y="3622953"/>
            <a:ext cx="3841790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300"/>
              </a:lnSpc>
              <a:buNone/>
            </a:pPr>
            <a:r>
              <a:rPr lang="en-US" sz="26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Future Enhancements:</a:t>
            </a:r>
            <a:endParaRPr lang="en-US" sz="2650" dirty="0"/>
          </a:p>
        </p:txBody>
      </p:sp>
      <p:sp>
        <p:nvSpPr>
          <p:cNvPr id="8" name="Shape 6"/>
          <p:cNvSpPr/>
          <p:nvPr/>
        </p:nvSpPr>
        <p:spPr>
          <a:xfrm>
            <a:off x="793790" y="4388406"/>
            <a:ext cx="6407944" cy="807958"/>
          </a:xfrm>
          <a:prstGeom prst="roundRect">
            <a:avLst>
              <a:gd name="adj" fmla="val 67378"/>
            </a:avLst>
          </a:prstGeom>
          <a:solidFill>
            <a:srgbClr val="EEE8DD"/>
          </a:solidFill>
          <a:ln/>
        </p:spPr>
      </p:sp>
      <p:sp>
        <p:nvSpPr>
          <p:cNvPr id="9" name="Text 7"/>
          <p:cNvSpPr/>
          <p:nvPr/>
        </p:nvSpPr>
        <p:spPr>
          <a:xfrm>
            <a:off x="1020604" y="4615220"/>
            <a:ext cx="29214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7428548" y="4388406"/>
            <a:ext cx="6408063" cy="807958"/>
          </a:xfrm>
          <a:prstGeom prst="roundRect">
            <a:avLst>
              <a:gd name="adj" fmla="val 67378"/>
            </a:avLst>
          </a:prstGeom>
          <a:solidFill>
            <a:srgbClr val="EEE8DD"/>
          </a:solidFill>
          <a:ln/>
        </p:spPr>
      </p:sp>
      <p:sp>
        <p:nvSpPr>
          <p:cNvPr id="11" name="Text 9"/>
          <p:cNvSpPr/>
          <p:nvPr/>
        </p:nvSpPr>
        <p:spPr>
          <a:xfrm>
            <a:off x="7655362" y="4615220"/>
            <a:ext cx="317849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Multiple user accounts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793790" y="5423178"/>
            <a:ext cx="6407944" cy="807958"/>
          </a:xfrm>
          <a:prstGeom prst="roundRect">
            <a:avLst>
              <a:gd name="adj" fmla="val 67378"/>
            </a:avLst>
          </a:prstGeom>
          <a:solidFill>
            <a:srgbClr val="EEE8DD"/>
          </a:solidFill>
          <a:ln/>
        </p:spPr>
      </p:sp>
      <p:sp>
        <p:nvSpPr>
          <p:cNvPr id="13" name="Text 11"/>
          <p:cNvSpPr/>
          <p:nvPr/>
        </p:nvSpPr>
        <p:spPr>
          <a:xfrm>
            <a:off x="1020604" y="56499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PIN encryption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428548" y="5423178"/>
            <a:ext cx="6408063" cy="807958"/>
          </a:xfrm>
          <a:prstGeom prst="roundRect">
            <a:avLst>
              <a:gd name="adj" fmla="val 67378"/>
            </a:avLst>
          </a:prstGeom>
          <a:solidFill>
            <a:srgbClr val="EEE8DD"/>
          </a:solidFill>
          <a:ln/>
        </p:spPr>
      </p:sp>
      <p:sp>
        <p:nvSpPr>
          <p:cNvPr id="15" name="Text 13"/>
          <p:cNvSpPr/>
          <p:nvPr/>
        </p:nvSpPr>
        <p:spPr>
          <a:xfrm>
            <a:off x="7655362" y="564999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746558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Admin panel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93790" y="6571298"/>
            <a:ext cx="643223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dirty="0">
                <a:solidFill>
                  <a:srgbClr val="484237"/>
                </a:solidFill>
                <a:latin typeface="Gelasio Semi Bold" pitchFamily="34" charset="0"/>
                <a:ea typeface="Gelasio Semi Bold" pitchFamily="34" charset="-122"/>
                <a:cs typeface="Gelasio Semi Bold" pitchFamily="34" charset="-120"/>
              </a:rPr>
              <a:t>Thank You – Any Questions?</a:t>
            </a:r>
            <a:endParaRPr lang="en-US" sz="3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2026-02-14T09:55:48Z</dcterms:created>
  <dcterms:modified xsi:type="dcterms:W3CDTF">2026-02-14T09:55:48Z</dcterms:modified>
</cp:coreProperties>
</file>